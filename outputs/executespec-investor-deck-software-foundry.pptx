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bc4094802149ac" /><Relationship Type="http://schemas.openxmlformats.org/officeDocument/2006/relationships/extended-properties" Target="/docProps/app.xml" Id="Rbff20c862b694e85" /><Relationship Type="http://schemas.openxmlformats.org/officeDocument/2006/relationships/officeDocument" Target="/ppt/presentation.xml" Id="Rd5ca61ff7fe348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fee2b6c554777"/>
  </p:sldMasterIdLst>
  <p:notesMasterIdLst>
    <p:notesMasterId xmlns:r="http://schemas.openxmlformats.org/officeDocument/2006/relationships" r:id="R05a4c3ef853848a1"/>
  </p:notesMasterIdLst>
  <p:sldIdLst>
    <p:sldId xmlns:r="http://schemas.openxmlformats.org/officeDocument/2006/relationships" id="256" r:id="Rfa12e6a071c04d83"/>
    <p:sldId xmlns:r="http://schemas.openxmlformats.org/officeDocument/2006/relationships" id="257" r:id="Rd898eb603b024cfe"/>
    <p:sldId xmlns:r="http://schemas.openxmlformats.org/officeDocument/2006/relationships" id="258" r:id="R69edc87756bb4647"/>
    <p:sldId xmlns:r="http://schemas.openxmlformats.org/officeDocument/2006/relationships" id="259" r:id="Rccb62344ca4f4a3c"/>
    <p:sldId xmlns:r="http://schemas.openxmlformats.org/officeDocument/2006/relationships" id="260" r:id="R2dad0b0edf1f4b0c"/>
    <p:sldId xmlns:r="http://schemas.openxmlformats.org/officeDocument/2006/relationships" id="261" r:id="Rd4c867a00d2149a3"/>
    <p:sldId xmlns:r="http://schemas.openxmlformats.org/officeDocument/2006/relationships" id="262" r:id="Rd98522c611604b79"/>
    <p:sldId xmlns:r="http://schemas.openxmlformats.org/officeDocument/2006/relationships" id="263" r:id="Re85ee52d711241c9"/>
    <p:sldId xmlns:r="http://schemas.openxmlformats.org/officeDocument/2006/relationships" id="264" r:id="R0c86c7d2a9c74f8d"/>
    <p:sldId xmlns:r="http://schemas.openxmlformats.org/officeDocument/2006/relationships" id="265" r:id="R49f265ce9d424fdb"/>
    <p:sldId xmlns:r="http://schemas.openxmlformats.org/officeDocument/2006/relationships" id="266" r:id="R72b7fe2b459b4684"/>
    <p:sldId xmlns:r="http://schemas.openxmlformats.org/officeDocument/2006/relationships" id="267" r:id="R08757d54eb8447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bc2556d8a34f97" /><Relationship Type="http://schemas.openxmlformats.org/officeDocument/2006/relationships/slideMaster" Target="/ppt/slideMasters/slideMaster1.xml" Id="R513fee2b6c554777" /><Relationship Type="http://schemas.openxmlformats.org/officeDocument/2006/relationships/notesMaster" Target="/ppt/notesMasters/notesMaster1.xml" Id="R05a4c3ef853848a1" /><Relationship Type="http://schemas.openxmlformats.org/officeDocument/2006/relationships/presProps" Target="/ppt/presProps.xml" Id="Rccb3a7788e824854" /><Relationship Type="http://schemas.openxmlformats.org/officeDocument/2006/relationships/tableStyles" Target="/ppt/tableStyles.xml" Id="Rb93e586bacca44af" /><Relationship Type="http://schemas.openxmlformats.org/officeDocument/2006/relationships/slide" Target="/ppt/slides/slide1.xml" Id="Rfa12e6a071c04d83" /><Relationship Type="http://schemas.openxmlformats.org/officeDocument/2006/relationships/slide" Target="/ppt/slides/slide2.xml" Id="Rd898eb603b024cfe" /><Relationship Type="http://schemas.openxmlformats.org/officeDocument/2006/relationships/slide" Target="/ppt/slides/slide3.xml" Id="R69edc87756bb4647" /><Relationship Type="http://schemas.openxmlformats.org/officeDocument/2006/relationships/slide" Target="/ppt/slides/slide4.xml" Id="Rccb62344ca4f4a3c" /><Relationship Type="http://schemas.openxmlformats.org/officeDocument/2006/relationships/slide" Target="/ppt/slides/slide5.xml" Id="R2dad0b0edf1f4b0c" /><Relationship Type="http://schemas.openxmlformats.org/officeDocument/2006/relationships/slide" Target="/ppt/slides/slide6.xml" Id="Rd4c867a00d2149a3" /><Relationship Type="http://schemas.openxmlformats.org/officeDocument/2006/relationships/slide" Target="/ppt/slides/slide7.xml" Id="Rd98522c611604b79" /><Relationship Type="http://schemas.openxmlformats.org/officeDocument/2006/relationships/slide" Target="/ppt/slides/slide8.xml" Id="Re85ee52d711241c9" /><Relationship Type="http://schemas.openxmlformats.org/officeDocument/2006/relationships/slide" Target="/ppt/slides/slide9.xml" Id="R0c86c7d2a9c74f8d" /><Relationship Type="http://schemas.openxmlformats.org/officeDocument/2006/relationships/slide" Target="/ppt/slides/slide10.xml" Id="R49f265ce9d424fdb" /><Relationship Type="http://schemas.openxmlformats.org/officeDocument/2006/relationships/slide" Target="/ppt/slides/slide11.xml" Id="R72b7fe2b459b4684" /><Relationship Type="http://schemas.openxmlformats.org/officeDocument/2006/relationships/slide" Target="/ppt/slides/slide12.xml" Id="R08757d54eb8447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87c90a96094a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69a6df24e24a62" /><Relationship Type="http://schemas.openxmlformats.org/officeDocument/2006/relationships/notesMaster" Target="/ppt/notesMasters/notesMaster1.xml" Id="Rbd8f269354aa4c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1d5e1d12cc4510" /><Relationship Type="http://schemas.openxmlformats.org/officeDocument/2006/relationships/notesMaster" Target="/ppt/notesMasters/notesMaster1.xml" Id="R70846e5eb7ae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9405c517b44576" /><Relationship Type="http://schemas.openxmlformats.org/officeDocument/2006/relationships/notesMaster" Target="/ppt/notesMasters/notesMaster1.xml" Id="Reee768570a1a45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bcfa259acf407e" /><Relationship Type="http://schemas.openxmlformats.org/officeDocument/2006/relationships/notesMaster" Target="/ppt/notesMasters/notesMaster1.xml" Id="R2e8e3a4113f54b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fbeec508774530" /><Relationship Type="http://schemas.openxmlformats.org/officeDocument/2006/relationships/notesMaster" Target="/ppt/notesMasters/notesMaster1.xml" Id="R140b167acf9e416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4946cdfc864b4f" /><Relationship Type="http://schemas.openxmlformats.org/officeDocument/2006/relationships/notesMaster" Target="/ppt/notesMasters/notesMaster1.xml" Id="Rcbfb4fd433e447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cb651113fe4c1d" /><Relationship Type="http://schemas.openxmlformats.org/officeDocument/2006/relationships/notesMaster" Target="/ppt/notesMasters/notesMaster1.xml" Id="Re6b77eb0141c47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134414a0e643cc" /><Relationship Type="http://schemas.openxmlformats.org/officeDocument/2006/relationships/notesMaster" Target="/ppt/notesMasters/notesMaster1.xml" Id="R9cb94d71dcef4b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d251b06e647d7" /><Relationship Type="http://schemas.openxmlformats.org/officeDocument/2006/relationships/notesMaster" Target="/ppt/notesMasters/notesMaster1.xml" Id="R0ac5e14655a843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e4fb4bcad74d15" /><Relationship Type="http://schemas.openxmlformats.org/officeDocument/2006/relationships/notesMaster" Target="/ppt/notesMasters/notesMaster1.xml" Id="R333f54d1681142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2f985aac0e46ce" /><Relationship Type="http://schemas.openxmlformats.org/officeDocument/2006/relationships/notesMaster" Target="/ppt/notesMasters/notesMaster1.xml" Id="Rd210fa59a90642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a2a3e2dd41412e" /><Relationship Type="http://schemas.openxmlformats.org/officeDocument/2006/relationships/notesMaster" Target="/ppt/notesMasters/notesMaster1.xml" Id="Rbf32f71c1eea47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575bbf690046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61f6218304273" /><Relationship Type="http://schemas.openxmlformats.org/officeDocument/2006/relationships/slideLayout" Target="/ppt/slideLayouts/slideLayout1.xml" Id="Rec261830af39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61830af39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af7a3e5c54f56" /><Relationship Type="http://schemas.openxmlformats.org/officeDocument/2006/relationships/image" Target="/ppt/media/image.png" Id="R514d57e2a8c646a2" /><Relationship Type="http://schemas.openxmlformats.org/officeDocument/2006/relationships/image" Target="/ppt/media/image.jpeg" Id="R9760a157c97c4139" /><Relationship Type="http://schemas.openxmlformats.org/officeDocument/2006/relationships/image" Target="/ppt/media/image2.jpeg" Id="Re08821b631bd48de" /><Relationship Type="http://schemas.openxmlformats.org/officeDocument/2006/relationships/notesSlide" Target="/ppt/notesSlides/notesSlide1.xml" Id="Rcd0b8b1694ef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3b9a95eed4e07" /><Relationship Type="http://schemas.openxmlformats.org/officeDocument/2006/relationships/image" Target="/ppt/media/image2.png" Id="R6d257884ed444010" /><Relationship Type="http://schemas.openxmlformats.org/officeDocument/2006/relationships/notesSlide" Target="/ppt/notesSlides/notesSlide2.xml" Id="Rbac5c2f156f444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507e211fc40d0" /><Relationship Type="http://schemas.openxmlformats.org/officeDocument/2006/relationships/image" Target="/ppt/media/image3.png" Id="Ra1d55f4a874743e8" /><Relationship Type="http://schemas.openxmlformats.org/officeDocument/2006/relationships/image" Target="/ppt/media/image3.jpeg" Id="R3ab5436c896c4d48" /><Relationship Type="http://schemas.openxmlformats.org/officeDocument/2006/relationships/image" Target="/ppt/media/image4.jpeg" Id="R8113236b71a5435e" /><Relationship Type="http://schemas.openxmlformats.org/officeDocument/2006/relationships/notesSlide" Target="/ppt/notesSlides/notesSlide3.xml" Id="Rf7dad8b08df441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6dea9d6134929" /><Relationship Type="http://schemas.openxmlformats.org/officeDocument/2006/relationships/image" Target="/ppt/media/image4.png" Id="R0291193428a5414f" /><Relationship Type="http://schemas.openxmlformats.org/officeDocument/2006/relationships/image" Target="/ppt/media/image5.jpeg" Id="Rd6900bed9262452f" /><Relationship Type="http://schemas.openxmlformats.org/officeDocument/2006/relationships/notesSlide" Target="/ppt/notesSlides/notesSlide4.xml" Id="R52f9be43b044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a419cdf6341c9" /><Relationship Type="http://schemas.openxmlformats.org/officeDocument/2006/relationships/image" Target="/ppt/media/image5.png" Id="R5a4c095308ad4fd5" /><Relationship Type="http://schemas.openxmlformats.org/officeDocument/2006/relationships/image" Target="/ppt/media/image6.jpeg" Id="Rfd4be53a28fb4ca5" /><Relationship Type="http://schemas.openxmlformats.org/officeDocument/2006/relationships/image" Target="/ppt/media/image7.jpeg" Id="Re08423a1338a4d4d" /><Relationship Type="http://schemas.openxmlformats.org/officeDocument/2006/relationships/notesSlide" Target="/ppt/notesSlides/notesSlide5.xml" Id="Rc2aca27099b4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eba677c264784" /><Relationship Type="http://schemas.openxmlformats.org/officeDocument/2006/relationships/image" Target="/ppt/media/image6.png" Id="Rc4147d45db694716" /><Relationship Type="http://schemas.openxmlformats.org/officeDocument/2006/relationships/notesSlide" Target="/ppt/notesSlides/notesSlide6.xml" Id="R833e74b3a47241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48c3645d44f15" /><Relationship Type="http://schemas.openxmlformats.org/officeDocument/2006/relationships/image" Target="/ppt/media/image7.png" Id="R7c2a2a9fa3174506" /><Relationship Type="http://schemas.openxmlformats.org/officeDocument/2006/relationships/image" Target="/ppt/media/image8.jpeg" Id="R07bae60f5cdf4d3d" /><Relationship Type="http://schemas.openxmlformats.org/officeDocument/2006/relationships/image" Target="/ppt/media/image9.jpeg" Id="Rf1794ed8b42f4467" /><Relationship Type="http://schemas.openxmlformats.org/officeDocument/2006/relationships/notesSlide" Target="/ppt/notesSlides/notesSlide7.xml" Id="R97282163ea4343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23f5c09314a20" /><Relationship Type="http://schemas.openxmlformats.org/officeDocument/2006/relationships/image" Target="/ppt/media/image8.png" Id="Rd58bf7cf314d4081" /><Relationship Type="http://schemas.openxmlformats.org/officeDocument/2006/relationships/notesSlide" Target="/ppt/notesSlides/notesSlide8.xml" Id="R275b2875075b48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bbc7d4363482a" /><Relationship Type="http://schemas.openxmlformats.org/officeDocument/2006/relationships/image" Target="/ppt/media/image9.png" Id="Rf2303aca323847c6" /><Relationship Type="http://schemas.openxmlformats.org/officeDocument/2006/relationships/image" Target="/ppt/media/image10.jpeg" Id="R31c1a8819de249ca" /><Relationship Type="http://schemas.openxmlformats.org/officeDocument/2006/relationships/notesSlide" Target="/ppt/notesSlides/notesSlide9.xml" Id="R8a7fa607d7384b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6e27c324f4f2b" /><Relationship Type="http://schemas.openxmlformats.org/officeDocument/2006/relationships/image" Target="/ppt/media/image10.png" Id="R2ee2a7136ad34e73" /><Relationship Type="http://schemas.openxmlformats.org/officeDocument/2006/relationships/notesSlide" Target="/ppt/notesSlides/notesSlide10.xml" Id="R3a04fb9ebff144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39f587fa1496a" /><Relationship Type="http://schemas.openxmlformats.org/officeDocument/2006/relationships/image" Target="/ppt/media/image11.png" Id="R7a8c33b233874515" /><Relationship Type="http://schemas.openxmlformats.org/officeDocument/2006/relationships/notesSlide" Target="/ppt/notesSlides/notesSlide11.xml" Id="R0b15c477071f45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fbef3e8704318" /><Relationship Type="http://schemas.openxmlformats.org/officeDocument/2006/relationships/image" Target="/ppt/media/image12.png" Id="Rbf696cd5dc874d53" /><Relationship Type="http://schemas.openxmlformats.org/officeDocument/2006/relationships/image" Target="/ppt/media/image11.jpeg" Id="Rc560a6a13d5e426a" /><Relationship Type="http://schemas.openxmlformats.org/officeDocument/2006/relationships/notesSlide" Target="/ppt/notesSlides/notesSlide12.xml" Id="R9f5a8ac22033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C3626-EBD9-41B9-840A-0989CD94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D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6AA1E-95C6-4779-BE18-7C88F6ED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0"/>
            <a:ext cx="4895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d57e2a8c646a2"/>
          <a:stretch xmlns:a="http://schemas.openxmlformats.org/drawingml/2006/main"/>
        </p:blipFill>
        <p:spPr>
          <a:xfrm xmlns:a="http://schemas.openxmlformats.org/drawingml/2006/main">
            <a:off x="609600" y="5524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A0C69-7E16-4E2F-9FD5-C420DB68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04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4A766-6A45-4272-8941-B09326B9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Software foundry for AI-assisted software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BE9E6-5A5E-4133-B9C6-6424861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Spec-to-PR core today. Terminal CLI released. Roadmap expands into DevOps governance, Virtual SRE, and data pipeline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66B08-2335-4BDC-9F88-E0FF5239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67300"/>
            <a:ext cx="1790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D1C8">
              <a:alpha val="12549"/>
            </a:srgbClr>
          </a:solidFill>
          <a:ln xmlns:a="http://schemas.openxmlformats.org/drawingml/2006/main" w="11430">
            <a:solidFill>
              <a:srgbClr val="7A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EA366-252C-4F1D-B9F9-B1ADF803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397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WORKING INVESTOR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03B73-BA8B-40B8-B54B-79394E28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673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>
              <a:alpha val="12549"/>
            </a:srgbClr>
          </a:solidFill>
          <a:ln xmlns:a="http://schemas.openxmlformats.org/drawingml/2006/main" w="11430">
            <a:solidFill>
              <a:srgbClr val="5B8D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C25ED-A34B-4132-AC8A-BF1EBAE3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33975"/>
            <a:ext cx="838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DEF"/>
                </a:solidFill>
                <a:latin typeface="Arial"/>
                <a:ea typeface="Arial"/>
                <a:cs typeface="Arial"/>
              </a:rPr>
              <a:t>2026-06-19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485F5-1662-4FC5-9B00-961C86BE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No deprecated product screenshots used.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B2398-5F58-4516-84CD-0DE7BA8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000125"/>
            <a:ext cx="394335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0a157c97c4139"/>
          <a:srcRect xmlns:a="http://schemas.openxmlformats.org/drawingml/2006/main" l="581" t="0" r="5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1028700"/>
            <a:ext cx="3886200" cy="2457450"/>
          </a:xfrm>
          <a:prstGeom xmlns:a="http://schemas.openxmlformats.org/drawingml/2006/main" prst="roundRect">
            <a:avLst>
              <a:gd name="adj" fmla="val 310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0FDFD-1A5C-40EA-971C-CAED8F93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62375"/>
            <a:ext cx="31813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821b631bd48de"/>
          <a:srcRect xmlns:a="http://schemas.openxmlformats.org/drawingml/2006/main" l="0" t="5122" r="0" b="5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3790950"/>
            <a:ext cx="3124200" cy="1752600"/>
          </a:xfrm>
          <a:prstGeom xmlns:a="http://schemas.openxmlformats.org/drawingml/2006/main" prst="roundRect">
            <a:avLst>
              <a:gd name="adj" fmla="val 4348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92A93-8295-40DB-B41F-99B6A8A1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2930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Fresh Console captures from 2026-06-19</a:t>
            </a:r>
          </a:p>
        </p:txBody>
      </p:sp>
    </p:spTree>
    <p:extLst>
      <p:ext uri="{BB962C8B-B14F-4D97-AF65-F5344CB8AC3E}">
        <p14:creationId xmlns:p14="http://schemas.microsoft.com/office/powerpoint/2010/main" val="11852956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257884ed444010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8FC00-4EF1-49F7-9249-6E6A455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C5499-844A-4B7B-AF18-4E226B32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1E979-A0A8-40B1-9780-A1BAF56D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02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4C022-8226-46C6-8C3A-880C0D7E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AI coding has crossed the generation threshold. Team trust has not.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FCE16-E6B4-4962-AF6C-F3686BE9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The buyer does not need another code suggestion surface. They need reviewable, cost-visible, governed output.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F41F0-3E1F-4842-9294-1DDCDD9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4955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ED532-B5AD-42ED-8EFC-A819B830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B2C68-327A-45AC-8EE6-BC960BA9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Merge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6003C-0023-4AB4-B1C4-83D6AEDB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Diffs still arrive without enough evidence to make reviewers confident.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6E2B0-F2B5-4E43-853D-BA6C84D3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24955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D7094-7F8C-4EC3-819B-0EF1028D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86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6AD62-AD8E-4D34-93A7-7F03C10C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Spend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39B146-A00E-4E49-9E9A-DB928672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957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Autonomy burns tokens before teams understand plan, scope, or cap.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A9474-4AC4-47AC-89C7-11CCED68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24955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E81A1-3689-4962-9AC7-F5DEB178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CA48A-4B0E-45CE-B7A1-3554C887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System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10892-BC79-4E6E-B200-8794009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95700"/>
            <a:ext cx="2038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Multi-repo work needs docs, memory, architecture, and policy in one loop.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78BA2-422E-4BC3-870C-F661B0C2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2343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3C2B4-819A-467C-94D0-E8396FD8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47625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4669B-3E70-4D9F-8243-43002676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95650"/>
            <a:ext cx="1885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B0D97-ED5A-4783-9912-C4C4FDB4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95700"/>
            <a:ext cx="1885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A model's self-rating is not a team acceptance signal.</a:t>
            </a:r>
          </a:p>
        </p:txBody>
      </p:sp>
    </p:spTree>
    <p:extLst>
      <p:ext uri="{BB962C8B-B14F-4D97-AF65-F5344CB8AC3E}">
        <p14:creationId xmlns:p14="http://schemas.microsoft.com/office/powerpoint/2010/main" val="1816075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55f4a874743e8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02278-29E7-4F72-8860-D1B77206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4CF4D-BBEE-4B18-A128-3147786D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PRODUCT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280981-2BC6-4D73-BBAB-BC6881FA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03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62FF4-5E0F-4994-9E53-0E43CF55A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Current wedge: spec to verified pull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47914-6985-4EEC-A7F0-3D141CCB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ExecuteSpec is an async control plane for bounded engineering work, not an IDE reskin.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B7CAF-BBA5-4C38-8F58-7BED2239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7A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33EB8-E887-4D22-BE7D-001BD47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8CDB3-EBBB-4B38-AD8D-EEAC1EEA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natural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3C4B6-B1BF-4355-A59F-D20C54A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14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2BD04-2AC3-46C1-BC49-CB461A57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5B8D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6C4C2-25F0-477C-A8C5-6025DDE9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74D710-24E5-46A7-A991-73811165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tasks +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D2CEA3-AA30-4DC1-88FD-FF7669CF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14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64F0D-2262-4EA3-A797-DB32051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2DD2E1-2E68-4DBF-9951-2B2DA684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9A7BF-D64B-407C-82C4-2AB688E6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586E1-1D7A-4045-A6BD-5C1582B7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87A65-BB40-422A-9BFE-077974B6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B6E6D-5A3D-4BD5-A7BB-8D7D1DF7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6874A-C411-4D51-957E-60031310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controlled tools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159FF-F240-4C24-BEC6-E961807A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14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0FBA14-AE36-4E27-98A6-D9F7AA19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F6C3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18300-9B86-44F1-BCDC-DD8A91C5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970FC-F978-4525-B98A-CEF23E7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build/test/review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76E464-0694-47A1-8868-1B5DD30D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147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39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419CBA-86D4-4B6D-8349-019BA0B7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00400"/>
            <a:ext cx="152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7AD1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FD803-A572-4EC0-A1E8-16CD9E8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09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AB04F5-EE7D-4AB8-8801-99572626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52850"/>
            <a:ext cx="1181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evidence attached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BDF23-9951-4310-9B18-619D67C3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91075"/>
            <a:ext cx="4667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436c896c4d48"/>
          <a:srcRect xmlns:a="http://schemas.openxmlformats.org/drawingml/2006/main" l="0" t="27851" r="0" b="2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4819650"/>
            <a:ext cx="4610100" cy="1276350"/>
          </a:xfrm>
          <a:prstGeom xmlns:a="http://schemas.openxmlformats.org/drawingml/2006/main" prst="roundRect">
            <a:avLst>
              <a:gd name="adj" fmla="val 5970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82F4E-B6EC-4AE1-BF21-5EEBE2C0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791075"/>
            <a:ext cx="46672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13236b71a5435e"/>
          <a:srcRect xmlns:a="http://schemas.openxmlformats.org/drawingml/2006/main" l="0" t="27851" r="0" b="2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4819650"/>
            <a:ext cx="4610100" cy="1276350"/>
          </a:xfrm>
          <a:prstGeom xmlns:a="http://schemas.openxmlformats.org/drawingml/2006/main" prst="roundRect">
            <a:avLst>
              <a:gd name="adj" fmla="val 5970"/>
            </a:avLst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87665C-ADED-4291-AF38-78D4912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293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Core promise: bounded delegation with plan gate, cost visibility, run evidence, and reviewable output.</a:t>
            </a:r>
          </a:p>
        </p:txBody>
      </p:sp>
    </p:spTree>
    <p:extLst>
      <p:ext uri="{BB962C8B-B14F-4D97-AF65-F5344CB8AC3E}">
        <p14:creationId xmlns:p14="http://schemas.microsoft.com/office/powerpoint/2010/main" val="1120319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1193428a5414f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8CFA-2E0F-43C1-B0E2-3B37D48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30732-FBD8-4566-8167-8405F564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CURRENT PRODUCT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94F23-3865-4579-AE82-469A3AFC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04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4B043-998D-4D90-9648-8212952E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Current surface map, without stale screenshots.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D6FCA-E522-4D06-A4EC-7C800AA9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The protected app is the Console control plane; route-level surfaces own runs, projects, billing, org settings, and benchmarks. Terminal CLI is released.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06F48D-6ED0-4931-AEA8-5BB16691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52725"/>
            <a:ext cx="478155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00bed9262452f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2781300"/>
            <a:ext cx="4724400" cy="2657475"/>
          </a:xfrm>
          <a:prstGeom xmlns:a="http://schemas.openxmlformats.org/drawingml/2006/main" prst="roundRect">
            <a:avLst>
              <a:gd name="adj" fmla="val 28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78E39-289D-4755-B386-5E0C6306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3C9EB-8899-41D0-8966-CB436595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C1CCD-6BFE-484A-AF3D-85B02282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B35940-1F91-4E46-93B1-69BAAB24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compose, live,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4DD36-F165-4DBC-A0E7-BF4459FF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4C4F9-5B86-4E50-B229-1E3A2836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A0E27-2AC8-424E-B40B-4E32BA23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12BAA-71F9-4CC5-BEB3-461B7FA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909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architecture, docs,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2B828-4E9D-455F-9B77-00D9A264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BC9E07-1166-4F77-B5E9-CCDBDCB6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01A8B6-921F-4AAF-805B-D7628CF5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CLI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33DC3-E8AF-45FA-897C-4025E7EC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released terminal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09EE2-0903-4C27-A3BB-1C1D83DF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4708B-1A4D-4432-8AFF-669ECFF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29100"/>
            <a:ext cx="4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7C0322-5209-472B-BC35-BFDEE440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386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Billing / Org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4BB5F6-F08A-4684-82E8-4A5E96A9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387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plans, BYOK, model controls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298704-CD63-426F-AC1C-0176D757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055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QA rule for this deck: only current Console captures from website/press-kit/current are used.</a:t>
            </a:r>
          </a:p>
        </p:txBody>
      </p:sp>
    </p:spTree>
    <p:extLst>
      <p:ext uri="{BB962C8B-B14F-4D97-AF65-F5344CB8AC3E}">
        <p14:creationId xmlns:p14="http://schemas.microsoft.com/office/powerpoint/2010/main" val="10539039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c095308ad4fd5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7108C-0BF3-45E4-A0BB-555A37F4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BCC91-8147-43CB-9D08-D10D3237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SOFTWARE FOUNDRY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77306-5442-44B8-B97D-08D9E76A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05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F5BED-C4A5-40FC-B180-CFF9C371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One agent platform across build, deploy, observe, and remediate.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DC1F8-10EA-4F11-983E-67E0E02A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The strategic advantage is shared context and governance, not four disconnected products.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3309D-0EB7-4A74-AAAB-8D6AB3C4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7AD1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6EF32-93B7-477C-A5C7-15644648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14E07-6DA3-4493-B7B3-F1EE31EA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ExecuteSpec 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8CA86-F6FE-4015-A0FA-3EFD9B3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5B8D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9AA42-EEA4-4000-B1E3-B1825667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29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Deploy + Govern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C1ACA-2537-4050-B7D4-3C1FFEA8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862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DevOps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34756-6407-405A-940C-1428D5F6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74027-D3F7-456F-BF20-C03DF238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E4AE4-C0A6-4B0A-A9AF-8352148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Virtual SRE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424A0-E318-44FA-AF4A-79A8200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8CD3A-5507-401A-90F3-4F3D1626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Data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F4786-F615-4888-B829-A5974239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86200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Pipeline builder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08352-85DF-46B9-814C-CF286CC4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829175"/>
            <a:ext cx="377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be53a28fb4ca5"/>
          <a:srcRect xmlns:a="http://schemas.openxmlformats.org/drawingml/2006/main" l="0" t="35641" r="0" b="35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48577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57A0F-6138-44E7-A2E6-1F0F997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29175"/>
            <a:ext cx="37719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423a1338a4d4d"/>
          <a:srcRect xmlns:a="http://schemas.openxmlformats.org/drawingml/2006/main" l="0" t="35641" r="0" b="35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4857750"/>
            <a:ext cx="3714750" cy="666750"/>
          </a:xfrm>
          <a:prstGeom xmlns:a="http://schemas.openxmlformats.org/drawingml/2006/main" prst="roundRect">
            <a:avLst>
              <a:gd name="adj" fmla="val 11429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CDF1B1-AFFF-40F3-8A67-8C790C2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Shared primitives: org/RBAC/billing/BYOK, project graph, docs, memory, tool runtime, model routing, cost ledger, evidence ledger, PR and issue lifecycle.</a:t>
            </a:r>
          </a:p>
        </p:txBody>
      </p:sp>
    </p:spTree>
    <p:extLst>
      <p:ext uri="{BB962C8B-B14F-4D97-AF65-F5344CB8AC3E}">
        <p14:creationId xmlns:p14="http://schemas.microsoft.com/office/powerpoint/2010/main" val="629330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47d45db694716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4AB23-5D9D-4B62-9EA7-226B6D76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C55F5-3E1D-4550-B0EE-B7BFBC53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EXPANSION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B8E57-07A3-4CD4-8E6F-234285AC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06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3C5C18-A22B-4DB4-A10D-5E2350BF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Expansion lines are roadmap, not shipped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F9459-ABAB-4B95-B839-A6433F4F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Sequence close adjacencies first; do not overpromise connector depth or auto-remediation.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16766-7CEA-4EF1-A568-A2A54A2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BEB5F-D0DF-4A42-A5AF-965EF8E5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0DCB6-6F9D-4D73-9DD5-1F0CC6DA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8DEF">
              <a:alpha val="12549"/>
            </a:srgbClr>
          </a:solidFill>
          <a:ln xmlns:a="http://schemas.openxmlformats.org/drawingml/2006/main" w="11430">
            <a:solidFill>
              <a:srgbClr val="5B8D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6BE8C-800B-4DF7-8155-20DE580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B8DE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8DE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D459E-4E4E-4F39-814F-B0BF9489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DevOps / 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0A208-7E9C-4CB5-A6D4-4125A4D2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Terraform, Docker, deploy workflows, environment drift, policy checks, and guarded terminal/web operations.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D4E2A-6729-46F6-8B7D-0B5CB5EE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530AA-5BFE-403F-A5B7-643BEEB8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1659F-CE88-4F5B-91E2-195605BA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78BFA">
              <a:alpha val="12549"/>
            </a:srgbClr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FEC35-ACC5-4F3D-B865-F7F956AB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78BFA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78BF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80B16-2C1B-4B9C-A318-14078538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099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Virtual SRE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89747-7566-4BEC-8870-1C2F5176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Observe logs, metrics, traces, and alerts; raise evidence-backed issues; route fixes into reviewable PRs.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0EBD6-4080-4C6F-86FE-0AE40485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3528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C4CD9-5399-4C2D-876B-E9844BEC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1323E-0B0D-47CB-A192-3B74B5C6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B981">
              <a:alpha val="12549"/>
            </a:srgbClr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9EDF9-37E0-48F5-AE82-57A91705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14675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0B981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427173-A253-4DAC-A9A1-D4DAABA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Data Pipeline 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6179C-B510-4CA9-8F01-A62DD9E8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Pipelines across SQL, NoSQL, warehouses, lakehouses, HDFS, Iceberg, Databricks, Snowflake, and unstructured sources.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EB17A2-0746-40CB-8DD4-5A5B44C6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Data boundary: ExecuteSpec owns compute/orchestration. Customers own source and destination storage by default; managed destination is separately priced.</a:t>
            </a:r>
          </a:p>
        </p:txBody>
      </p:sp>
    </p:spTree>
    <p:extLst>
      <p:ext uri="{BB962C8B-B14F-4D97-AF65-F5344CB8AC3E}">
        <p14:creationId xmlns:p14="http://schemas.microsoft.com/office/powerpoint/2010/main" val="1083901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a2a9fa3174506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BB6FD-C554-45A5-BEE4-E812A612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CA777-0884-4E2A-8806-D0ADD0A9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EDD53-6D51-433E-A5CF-A238E36A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07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81CFC-273A-4DC0-987E-F9E0268D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Managed entry, BYOK expansion.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CAAC2-EA87-4924-AE72-CF920F69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Current pricing keeps evaluation simple while making Team and Enterprise the margin-safe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1411A-5A1D-4008-A3F9-3908A893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95F42-780D-4A57-AD68-5B2BFC01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Tier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3E465-F6F8-4FE7-A028-3BDCF0A7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241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466AF-FECF-47ED-A636-9A8A6B6B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670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EE9F2-83FF-44DA-A9FB-27E79FC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241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143E27-38B5-4B65-A356-B3D850C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670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Commercial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631C2-9F68-4ADE-9E2D-1D183DF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5CB6A-CCDD-49F1-B7DC-607293A9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Free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C61A9-1A77-4F96-82BB-FE6EBD19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575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42C4F-6F02-4A54-8733-950F661C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004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$0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1C60D-02F5-4E2F-ABE2-17654CB2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575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79681-3700-41C0-B9A4-1876950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04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15 runs/month; evaluation and activation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27BC9-753B-4984-8CDA-183FF6C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9D42DC-B2A8-435E-8AFF-36CC7B9B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Pro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2B5162-9D2E-495A-AFC2-2B77119C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BBC01A-A93B-46B1-AD58-86CEC2E3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9338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$29/mo or $289/yr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799A0-8AA0-4B80-8159-2AFDDF14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19FB5-72C5-403C-A8FF-506D993E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338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30 managed-key runs; solo conversion; cost cap protects margin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8062E-EA43-4482-9FED-4ADADBDF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23C78-0E7B-42B9-AEFD-259DBF37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672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AECFF-249D-4B48-88E4-371CD07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243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AC3E4-DEA3-4740-9539-6B7D55E1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672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$39/seat/mo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F2C3B3-0370-4747-98A8-A8FCD04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243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3A270A-C3B2-45F6-9FAA-364ED03C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672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BYOK from one seat; primary self-serve revenue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10645-909C-49A8-AF12-30AC73F3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4D273-9662-47EC-A9AC-F254A7F1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2C468-FBB4-4575-A4AE-A05DE3B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CA79D-6526-46FF-A05D-C0389185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00625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Custom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91E764-9DD5-4555-9FEB-5D41F215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619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C4E5D8-5E11-460B-95B8-C60FC585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00625"/>
            <a:ext cx="594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Contract, DPA/SLA path, org model controls, provider lanes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D83B37-F58B-4039-89BD-1765039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591175"/>
            <a:ext cx="3962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ae60f5cdf4d3d"/>
          <a:srcRect xmlns:a="http://schemas.openxmlformats.org/drawingml/2006/main" l="0" t="31268" r="0" b="31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5619750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FE92EA-D7EC-43F4-884C-FFB068D1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91175"/>
            <a:ext cx="3962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94ed8b42f4467"/>
          <a:srcRect xmlns:a="http://schemas.openxmlformats.org/drawingml/2006/main" l="0" t="31268" r="0" b="31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96150" y="5619750"/>
            <a:ext cx="3905250" cy="914400"/>
          </a:xfrm>
          <a:prstGeom xmlns:a="http://schemas.openxmlformats.org/drawingml/2006/main" prst="roundRect">
            <a:avLst>
              <a:gd name="adj" fmla="val 8333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AD498C-346F-4A0E-84C5-AD7600E4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34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Pricing thesis: do not sell unlimited managed AI spend. Heavy usage should move toward BYOK or explicit usage pricing.</a:t>
            </a:r>
          </a:p>
        </p:txBody>
      </p:sp>
    </p:spTree>
    <p:extLst>
      <p:ext uri="{BB962C8B-B14F-4D97-AF65-F5344CB8AC3E}">
        <p14:creationId xmlns:p14="http://schemas.microsoft.com/office/powerpoint/2010/main" val="2400183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bf7cf314d4081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00141-AEC5-43D3-A4E8-21994126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6725A-DE62-4610-A329-65BDD1B9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4ADAA-070C-4A4A-8AC1-CBC8C5DD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08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42675-2D8D-4050-A053-E1E42935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Position around merge-ready work, not typing speed.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D8509-57A4-45BC-82FD-443963D4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ExecuteSpec should be judged by reviewable output and trust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95EDF-7668-4450-ADAD-9DB0AFA0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54250-0B27-4948-95B3-D0350B18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4F1AA-FDA5-4090-B32D-9FC632F9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813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8EEC2-47A9-4E05-9BFE-402C9259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241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2D0E-A635-412F-9AE8-C605006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8130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0F97E-FFD2-47F7-901E-9D711361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241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ExecuteSpec response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1E873-2C7D-4C10-8FCC-446C896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7C787-BD49-4630-8EDB-ECA961F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IDE copilots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6A446-6A2B-4C32-BE95-03B4433B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1399B-3BD6-4FAA-8B39-48835825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575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Engineer still drives every 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1D3BF-63C1-424B-965C-BF00205A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1470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62E7A-6FA8-462E-8372-A1280968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575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Async spec-to-PR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3BB343-151B-422E-890C-6B91C031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E7508-12FC-4C02-A79C-ABD9C63C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Autonomous 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7414D-06F2-4940-8148-B19BB8AB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481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D8A6A-3674-4042-9724-A3620631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9909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Opaque plan and spend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2D6CB-C54A-4FED-B70E-25100C28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8DE90-872A-4DA4-B1E5-B7BF608C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909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Approval gate before execution cost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AA4A3-E0B0-4BD8-81C2-9525CD9C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03299-CF3E-4817-9A7B-C183A8E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243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Chat over repo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E53F6-94D0-4DF7-89DB-30E7D6E2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815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79302D-E120-481A-B3BB-3D2704E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243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Weak merge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8725AB-D0E8-4BEA-9851-99F31D87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8150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526A41-711E-46B9-A4E7-33790C08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243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Verified score from build, tests, reviewer, criticals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C3E52-0C9A-4642-A704-C59AC46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F0407D-826C-44A3-9DE5-B3DB6654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1943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C9D1DB"/>
                </a:solidFill>
                <a:latin typeface="Arial"/>
                <a:ea typeface="Arial"/>
                <a:cs typeface="Arial"/>
              </a:rPr>
              <a:t>Managed-only SaaS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C69D9F-BD0B-4451-9405-78ECF263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149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F2BAB-0BA0-47EB-8DE4-8452218A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05777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Gross margin risk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B98BD8-79D9-4ACE-A8D4-42B98586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533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FC454-B337-46B5-B1FA-EEC2769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57775"/>
            <a:ext cx="508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BYOK Team/Enterprise with zero provider markup</a:t>
            </a:r>
          </a:p>
        </p:txBody>
      </p:sp>
    </p:spTree>
    <p:extLst>
      <p:ext uri="{BB962C8B-B14F-4D97-AF65-F5344CB8AC3E}">
        <p14:creationId xmlns:p14="http://schemas.microsoft.com/office/powerpoint/2010/main" val="323976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03aca323847c6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618D1-F53F-4873-83D8-EF622696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7B61B-BA9E-42C7-A9D5-FB1725A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PROOF DISCIPLINE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6422A-DC21-46AA-8221-558EEE6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09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2F993B-3605-429A-A2F3-71DA6E3C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Make the trust story stronger by narrowing the claims.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CE246-2B87-4DA4-B825-8CB0FBD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Investor language should separate implemented product, roadmap, and proof gaps.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2C668-E590-45DC-945C-0F52BF75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2248F2-9880-46EB-AB55-AFF864E5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1A6F7-47A7-4F52-97AD-AAF256E0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DDFF4-DD9F-4278-B7D8-7F3680FA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Spec-to-plan-to-PR core, terminal CLI released, billing ladder, BYOK, validation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19FCB-1E0A-4C3F-8113-6B13D03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3AAEB-271A-496F-815F-09F372EE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3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91083-0911-4843-A63C-69C25E4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242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Qualify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6EE98-B87F-4788-B750-A47837A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2425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Benchmark numbers, payment sandbox proof, enterprise compliance, tenant isolation.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E9ED9-40C3-46F9-8E63-7DD82C56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AB1A1-C9E4-4A70-AA0B-3372EB3E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71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6E532-B876-4CF0-AC7A-31D92AFC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Avoid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478C3-D58E-4623-87F7-6F092E43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SOC 2 certified, official leaderboard rank, unlimited managed runs, fully autonomous merge.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CAD5A-E49C-49B9-94B6-B57F380D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886325"/>
            <a:ext cx="649605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1a8819de249ca"/>
          <a:srcRect xmlns:a="http://schemas.openxmlformats.org/drawingml/2006/main" l="0" t="37219" r="0" b="372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4914900"/>
            <a:ext cx="6438900" cy="1028700"/>
          </a:xfrm>
          <a:prstGeom xmlns:a="http://schemas.openxmlformats.org/drawingml/2006/main" prst="roundRect">
            <a:avLst>
              <a:gd name="adj" fmla="val 740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DE3B5-8413-40FA-9AD9-2D8AFEB8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134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Operating principle: source-ground ambitious claims, and label roadmap separately from implemented product.</a:t>
            </a:r>
          </a:p>
        </p:txBody>
      </p:sp>
    </p:spTree>
    <p:extLst>
      <p:ext uri="{BB962C8B-B14F-4D97-AF65-F5344CB8AC3E}">
        <p14:creationId xmlns:p14="http://schemas.microsoft.com/office/powerpoint/2010/main" val="11495914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2a7136ad34e73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C59DE-59E9-4C0C-97CD-398F9087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77DEC-2AF9-473E-85D0-F71C5172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WEDGE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652E1-6FAD-4EDE-80B4-B013CDDD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10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0CF4D-AF9B-4995-A021-D76A2A6B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Land with verified PR throughput; expand into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9A22C-15F5-42B8-976C-F9BD28E6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The first buyer does not need a universe. They need reliable, reviewable AI work in their existing repos.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2E57A-298C-4714-875C-8CDB1013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435F-8EEE-4FC2-BB16-BB126BBF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42821-669C-4E69-A95F-A8169744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24200"/>
            <a:ext cx="354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Initial wedge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B49B6-F479-4DF9-BE54-F6537D37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3543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Teams already using AI coding tools but still requiring human PR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Sell verified throughput and cost control, not engineer replacement.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1ABED-4740-475A-9F88-14E3DBB3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EBF96-624F-4A5D-940E-ECB43B5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9C7D6-C9EC-4324-A25A-A8501B68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Core + 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8C89E-F294-4941-8C88-A5B0BE9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released terminal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C3C47-D44B-46AE-82B5-9655C626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43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8100D-BC7F-474E-906C-F4BB08DD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385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14AC7-846A-4B4E-B5B7-4A537544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DevOps/Governance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2403-F62E-4332-ADB3-CA8082C8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closest adjacency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670D10-A6BC-43DB-BA80-3E755F6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F0F98-33BF-47B8-967D-5ED45D18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426C8-AD5A-4B17-9937-F447F49B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Virtual SRE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8EE27-F65B-49E4-BE31-7A0821A8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incidents to PRs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FF460-0156-46D4-A727-AE1FA7A0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914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D2D9A-304B-4241-9676-5FBA5514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1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D1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86104-0A23-49B3-AA76-02F7EA6F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Data Pipeline Builder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B974F-AD83-4DE0-8E1A-1F74E284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broadest connector scope</a:t>
            </a:r>
          </a:p>
        </p:txBody>
      </p:sp>
    </p:spTree>
    <p:extLst>
      <p:ext uri="{BB962C8B-B14F-4D97-AF65-F5344CB8AC3E}">
        <p14:creationId xmlns:p14="http://schemas.microsoft.com/office/powerpoint/2010/main" val="622292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c33b233874515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1DB19-7319-4522-AF0F-B51B2D84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1F880-7483-4A8A-8FE2-89953BDF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D98A4-3094-4CF8-BFD5-20374DF4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11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19BDE-EC38-4DA1-8F93-465CE2B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Decisions before final fundraising copy.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44A44-17F0-494C-A08D-52C49CCD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This deck is a working strategy artifact; the next pass should lock the round narrative and evidence level.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8502-6A1F-4D78-A2AB-10D1BC28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BF76F-25CD-4206-9F63-3B0E96EB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CB93F-A12F-4ED6-A503-1A160D9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Round 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58E47-5E9A-4C79-884D-260EFFAE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Benchmark-led, enterprise-pilot-led, developer-launch-led, or software-foundry thesis?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A2165-66D5-4B40-9512-95B5D09C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ABABB-028E-42C0-8E62-DBC83460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D61331-9FD8-4E53-9E3D-668DD28D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623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Pricing posture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C9DC3-2093-4F47-983E-CE3A700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623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Keep current ladder or move toward platform fee + customer provider spend?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EEF58-80A8-4D5A-A604-E36464CF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04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38C54-6708-4630-87D7-E85821B2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D3CDE-64CD-4909-87DF-73D414A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623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Expansion anchor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73A3BE-E20B-4972-8599-CD7F784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6235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Lead with DevOps/Governance, Virtual SRE, or Data Pipeline Builder after Core + CLI?</a:t>
            </a:r>
          </a:p>
        </p:txBody>
      </p:sp>
    </p:spTree>
    <p:extLst>
      <p:ext uri="{BB962C8B-B14F-4D97-AF65-F5344CB8AC3E}">
        <p14:creationId xmlns:p14="http://schemas.microsoft.com/office/powerpoint/2010/main" val="466608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96cd5dc874d53"/>
          <a:stretch xmlns:a="http://schemas.openxmlformats.org/drawingml/2006/main"/>
        </p:blipFill>
        <p:spPr>
          <a:xfrm xmlns:a="http://schemas.openxmlformats.org/drawingml/2006/main">
            <a:off x="609600" y="3238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2FF9A-19D2-4F08-9C70-330DE56A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ExecuteSpec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B5C8D-28B5-4BAD-9AB0-10E7545E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7AD1C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AD1C8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79309-1190-4C9F-8D22-657ACC5E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8A94A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8A94A6"/>
                </a:solidFill>
                <a:latin typeface="Arial"/>
                <a:ea typeface="Arial"/>
                <a:cs typeface="Arial"/>
              </a:rPr>
              <a:t>12  Current docs + website brand kit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AC9BA-CAE7-4035-8AE2-6FD5AC8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00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What the final investor deck still needs.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5030C-212C-4684-9796-CB0F137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The working deck is now product-truth-safe. The fundraising deck still needs sharper evidence and narrative choices.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A7C8B-55CE-404F-A55C-895830FE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86075"/>
            <a:ext cx="46863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B1F26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0a6a13d5e426a"/>
          <a:srcRect xmlns:a="http://schemas.openxmlformats.org/drawingml/2006/main" l="0" t="4897" r="0" b="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914650"/>
            <a:ext cx="4629150" cy="2609850"/>
          </a:xfrm>
          <a:prstGeom xmlns:a="http://schemas.openxmlformats.org/drawingml/2006/main" prst="roundRect">
            <a:avLst>
              <a:gd name="adj" fmla="val 292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C9F63-43E3-4579-9947-53255AA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746BE-3F9C-40D0-A67D-81E2D60E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77CDD-E31F-43D0-BD53-D5A0C7A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FEA97-3DC3-49D5-BA85-23F35756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Payment sandbox proof and scorer-backed benchmark artifacts.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2A2FC-5F23-4AB9-99EF-DAE0B113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381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4171C"/>
          </a:solidFill>
          <a:ln xmlns:a="http://schemas.openxmlformats.org/drawingml/2006/main" w="11430">
            <a:solidFill>
              <a:srgbClr val="313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03B6B9-09BA-41D4-A5E7-E4142053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566AB-8965-4B87-A034-E1ED174E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051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CEEF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CEEF2"/>
                </a:solidFill>
                <a:latin typeface="Arial"/>
                <a:ea typeface="Arial"/>
                <a:cs typeface="Arial"/>
              </a:rPr>
              <a:t>Numbers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A5355-4FF9-4796-AEBA-760DE3A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19240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Run-cost economics, early funnel metrics, conversion assumptions, and funding ask.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AE6A1-800B-498E-BFEB-89AA8372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43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9D1D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1DB"/>
                </a:solidFill>
                <a:latin typeface="Arial"/>
                <a:ea typeface="Arial"/>
                <a:cs typeface="Arial"/>
              </a:rPr>
              <a:t>No stale press-kit UI screenshots are included in this version.</a:t>
            </a:r>
          </a:p>
        </p:txBody>
      </p:sp>
    </p:spTree>
    <p:extLst>
      <p:ext uri="{BB962C8B-B14F-4D97-AF65-F5344CB8AC3E}">
        <p14:creationId xmlns:p14="http://schemas.microsoft.com/office/powerpoint/2010/main" val="1455469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2026-06-19T14:47:30.6770000Z</dcterms:created>
  <dcterms:modified xsi:type="dcterms:W3CDTF">2026-06-19T14:47:30.6770000Z</dcterms:modified>
</coreProperties>
</file>